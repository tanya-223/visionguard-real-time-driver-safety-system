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6" r:id="rId11"/>
    <p:sldId id="268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3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030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85" y="0"/>
            <a:ext cx="530352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1430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VisionGuard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365760" y="20848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Depth-Aware Object Detection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5760" y="2450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Risk Analysis Prediction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" y="2926080"/>
            <a:ext cx="411480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Deep Learning Project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3547872"/>
            <a:ext cx="1417320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35478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LiDAR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965960" y="3547872"/>
            <a:ext cx="141732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1965960" y="35478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Only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566160" y="3547872"/>
            <a:ext cx="1417320" cy="3474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3566160" y="35478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Roads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K.Tanya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[160123748018]  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0" y="457200"/>
            <a:ext cx="338328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457200"/>
            <a:ext cx="9144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5650992" y="457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YOLO Detection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178040" y="1051560"/>
            <a:ext cx="0" cy="246888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0" y="1298448"/>
            <a:ext cx="338328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0" y="1298448"/>
            <a:ext cx="91440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0"/>
          <p:cNvSpPr/>
          <p:nvPr/>
        </p:nvSpPr>
        <p:spPr>
          <a:xfrm>
            <a:off x="5650992" y="12984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Depth Estimation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178040" y="1892808"/>
            <a:ext cx="0" cy="246888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6400" y="2139696"/>
            <a:ext cx="338328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486400" y="2139696"/>
            <a:ext cx="91440" cy="5943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4"/>
          <p:cNvSpPr/>
          <p:nvPr/>
        </p:nvSpPr>
        <p:spPr>
          <a:xfrm>
            <a:off x="5650992" y="213969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TTC Calculator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178040" y="2734056"/>
            <a:ext cx="0" cy="246888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6400" y="2980944"/>
            <a:ext cx="338328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486400" y="2980944"/>
            <a:ext cx="91440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5650992" y="298094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Conditions Detect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178040" y="3575304"/>
            <a:ext cx="0" cy="246888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0" y="3822192"/>
            <a:ext cx="338328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486400" y="3822192"/>
            <a:ext cx="9144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2"/>
          <p:cNvSpPr/>
          <p:nvPr/>
        </p:nvSpPr>
        <p:spPr>
          <a:xfrm>
            <a:off x="5650992" y="38221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RL Alert Agent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486400" y="4663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AI Pipeline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2560320" cy="2011680"/>
          </a:xfrm>
          <a:prstGeom prst="rect">
            <a:avLst/>
          </a:prstGeom>
          <a:solidFill>
            <a:srgbClr val="0D1B3E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1188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1,53,972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6576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deaths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2487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— 2021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097280"/>
            <a:ext cx="5577840" cy="1078992"/>
          </a:xfrm>
          <a:prstGeom prst="rect">
            <a:avLst/>
          </a:prstGeom>
          <a:solidFill>
            <a:srgbClr val="F8FAFC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097280"/>
            <a:ext cx="73152" cy="107899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35331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2070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too expensive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931920" y="15179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ADAS uses LiDAR/Radar costing $4,000–$75,000 per unit — unaffordable for most Indians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0" y="2359152"/>
            <a:ext cx="5577840" cy="1078992"/>
          </a:xfrm>
          <a:prstGeom prst="rect">
            <a:avLst/>
          </a:prstGeom>
          <a:solidFill>
            <a:srgbClr val="F8FAFC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0" y="2359152"/>
            <a:ext cx="73152" cy="1078992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615184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468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roads ignored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931920" y="277977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models trained on western COCO dataset — no autorickshaws, cattle, or overloaded bikes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200400" y="3621024"/>
            <a:ext cx="5577840" cy="1078992"/>
          </a:xfrm>
          <a:prstGeom prst="rect">
            <a:avLst/>
          </a:prstGeom>
          <a:solidFill>
            <a:srgbClr val="F8FAFC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0" y="3621024"/>
            <a:ext cx="73152" cy="1078992"/>
          </a:xfrm>
          <a:prstGeom prst="rect">
            <a:avLst/>
          </a:prstGeom>
          <a:solidFill>
            <a:srgbClr val="1A56A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3877056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931920" y="37307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adverse conditions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3931920" y="40416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ADAS systems fail in night, rain, and fog — critical for Indian monsoon driving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3385" y="470001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VisionGuard solves all three — using only a camera.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VisionGuard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2560320" cy="411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834640" y="1005840"/>
            <a:ext cx="2011680" cy="411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5"/>
          <p:cNvSpPr/>
          <p:nvPr/>
        </p:nvSpPr>
        <p:spPr>
          <a:xfrm>
            <a:off x="2834640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ADAS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005840"/>
            <a:ext cx="2011680" cy="411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Mobileye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0" y="1005840"/>
            <a:ext cx="201168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VisionGuard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74320" y="1417320"/>
            <a:ext cx="256032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14173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834640" y="1417320"/>
            <a:ext cx="20116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2834640" y="14173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+ Radar + Cam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846320" y="1417320"/>
            <a:ext cx="20116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14173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chip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858000" y="1417320"/>
            <a:ext cx="20116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14173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RGB Camera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" y="1929384"/>
            <a:ext cx="2560320" cy="47548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2" name="Text 19"/>
          <p:cNvSpPr/>
          <p:nvPr/>
        </p:nvSpPr>
        <p:spPr>
          <a:xfrm>
            <a:off x="274320" y="19293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834640" y="1929384"/>
            <a:ext cx="2011680" cy="47548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4" name="Text 21"/>
          <p:cNvSpPr/>
          <p:nvPr/>
        </p:nvSpPr>
        <p:spPr>
          <a:xfrm>
            <a:off x="2834640" y="19293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$10,000+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0" y="1929384"/>
            <a:ext cx="2011680" cy="47548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6" name="Text 23"/>
          <p:cNvSpPr/>
          <p:nvPr/>
        </p:nvSpPr>
        <p:spPr>
          <a:xfrm>
            <a:off x="4846320" y="19293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$1,000+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858000" y="1929384"/>
            <a:ext cx="2011680" cy="47548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19293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74320" y="2441448"/>
            <a:ext cx="256032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7"/>
          <p:cNvSpPr/>
          <p:nvPr/>
        </p:nvSpPr>
        <p:spPr>
          <a:xfrm>
            <a:off x="274320" y="24414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Classes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834640" y="2441448"/>
            <a:ext cx="20116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29"/>
          <p:cNvSpPr/>
          <p:nvPr/>
        </p:nvSpPr>
        <p:spPr>
          <a:xfrm>
            <a:off x="2834640" y="24414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846320" y="2441448"/>
            <a:ext cx="20116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1"/>
          <p:cNvSpPr/>
          <p:nvPr/>
        </p:nvSpPr>
        <p:spPr>
          <a:xfrm>
            <a:off x="4846320" y="24414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858000" y="2441448"/>
            <a:ext cx="20116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24414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274320" y="2953512"/>
            <a:ext cx="2560320" cy="47548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8" name="Text 35"/>
          <p:cNvSpPr/>
          <p:nvPr/>
        </p:nvSpPr>
        <p:spPr>
          <a:xfrm>
            <a:off x="274320" y="29535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/ Rain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2834640" y="2953512"/>
            <a:ext cx="2011680" cy="47548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0" name="Text 37"/>
          <p:cNvSpPr/>
          <p:nvPr/>
        </p:nvSpPr>
        <p:spPr>
          <a:xfrm>
            <a:off x="2834640" y="29535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846320" y="2953512"/>
            <a:ext cx="2011680" cy="47548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2" name="Text 39"/>
          <p:cNvSpPr/>
          <p:nvPr/>
        </p:nvSpPr>
        <p:spPr>
          <a:xfrm>
            <a:off x="4846320" y="29535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858000" y="2953512"/>
            <a:ext cx="2011680" cy="47548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0" y="29535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Detected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274320" y="3465576"/>
            <a:ext cx="256032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Text 43"/>
          <p:cNvSpPr/>
          <p:nvPr/>
        </p:nvSpPr>
        <p:spPr>
          <a:xfrm>
            <a:off x="274320" y="3465576"/>
            <a:ext cx="256032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Alert Policy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2834640" y="3465576"/>
            <a:ext cx="20116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8" name="Text 45"/>
          <p:cNvSpPr/>
          <p:nvPr/>
        </p:nvSpPr>
        <p:spPr>
          <a:xfrm>
            <a:off x="2834640" y="346557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Rule-based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4846320" y="3465576"/>
            <a:ext cx="20116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0" name="Text 47"/>
          <p:cNvSpPr/>
          <p:nvPr/>
        </p:nvSpPr>
        <p:spPr>
          <a:xfrm>
            <a:off x="4846320" y="346557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Rule-based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6858000" y="3465576"/>
            <a:ext cx="20116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2" name="Text 49"/>
          <p:cNvSpPr/>
          <p:nvPr/>
        </p:nvSpPr>
        <p:spPr>
          <a:xfrm>
            <a:off x="6858000" y="346557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PPO Trained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Camera-Only ADAS — Making Road Safety Accessible to Every Indian Vehicle Owner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115568" cy="30175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115568" cy="38404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5087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0896" y="21031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INPUT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10896" y="267004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 Phone / Video file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389888" y="2487168"/>
            <a:ext cx="109728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99616" y="1051560"/>
            <a:ext cx="1115568" cy="30175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499616" y="1051560"/>
            <a:ext cx="1115568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1499616" y="10515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68" y="150876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36192" y="21031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DETECTION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536192" y="267004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Indian roads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2615184" y="2487168"/>
            <a:ext cx="109728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724912" y="1051560"/>
            <a:ext cx="1115568" cy="30175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724912" y="1051560"/>
            <a:ext cx="111556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6"/>
          <p:cNvSpPr/>
          <p:nvPr/>
        </p:nvSpPr>
        <p:spPr>
          <a:xfrm>
            <a:off x="2724912" y="10515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6664" y="150876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761488" y="21031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ESTIMATION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2761488" y="267004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DepthAnything v2 (no sensor)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3840480" y="2487168"/>
            <a:ext cx="109728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950208" y="1051560"/>
            <a:ext cx="1115568" cy="30175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950208" y="1051560"/>
            <a:ext cx="1115568" cy="3840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2"/>
          <p:cNvSpPr/>
          <p:nvPr/>
        </p:nvSpPr>
        <p:spPr>
          <a:xfrm>
            <a:off x="3950208" y="10515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150876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986784" y="21031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CALCULATOR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3986784" y="267004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on distance history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5065776" y="2487168"/>
            <a:ext cx="109728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175504" y="1051560"/>
            <a:ext cx="1115568" cy="30175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175504" y="1051560"/>
            <a:ext cx="1115568" cy="38404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4" name="Text 28"/>
          <p:cNvSpPr/>
          <p:nvPr/>
        </p:nvSpPr>
        <p:spPr>
          <a:xfrm>
            <a:off x="5175504" y="10515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7256" y="1508760"/>
            <a:ext cx="502920" cy="5029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212080" y="21031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DETECT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5212080" y="267004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/ Rain / Fog / Glare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6291072" y="2487168"/>
            <a:ext cx="109728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400800" y="1051560"/>
            <a:ext cx="1115568" cy="30175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400800" y="1051560"/>
            <a:ext cx="1115568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1" name="Text 34"/>
          <p:cNvSpPr/>
          <p:nvPr/>
        </p:nvSpPr>
        <p:spPr>
          <a:xfrm>
            <a:off x="6400800" y="10515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2552" y="1508760"/>
            <a:ext cx="502920" cy="50292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437376" y="21031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ALERT AGENT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6437376" y="267004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policy — 200K steps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7516368" y="2487168"/>
            <a:ext cx="109728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7626096" y="1051560"/>
            <a:ext cx="1115568" cy="30175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7626096" y="1051560"/>
            <a:ext cx="1115568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8" name="Text 40"/>
          <p:cNvSpPr/>
          <p:nvPr/>
        </p:nvSpPr>
        <p:spPr>
          <a:xfrm>
            <a:off x="7626096" y="10515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7848" y="1508760"/>
            <a:ext cx="502920" cy="50292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7662672" y="21031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OUTPUT</a:t>
            </a:r>
            <a:endParaRPr lang="en-US" sz="950" dirty="0"/>
          </a:p>
        </p:txBody>
      </p:sp>
      <p:sp>
        <p:nvSpPr>
          <p:cNvPr id="51" name="Text 42"/>
          <p:cNvSpPr/>
          <p:nvPr/>
        </p:nvSpPr>
        <p:spPr>
          <a:xfrm>
            <a:off x="7662672" y="2670048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+ Alerts + Dashboard</a:t>
            </a:r>
            <a:endParaRPr lang="en-US" sz="850" dirty="0"/>
          </a:p>
        </p:txBody>
      </p:sp>
      <p:sp>
        <p:nvSpPr>
          <p:cNvPr id="52" name="Shape 43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3" name="Shape 44"/>
          <p:cNvSpPr/>
          <p:nvPr/>
        </p:nvSpPr>
        <p:spPr>
          <a:xfrm>
            <a:off x="274320" y="4251960"/>
            <a:ext cx="73152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45"/>
          <p:cNvSpPr/>
          <p:nvPr/>
        </p:nvSpPr>
        <p:spPr>
          <a:xfrm>
            <a:off x="457200" y="42519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modules run in a single loop — processing each frame from any video or live camera feed in real time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YOLO Fine-Tuning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201168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97280"/>
            <a:ext cx="201168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12618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3,438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274320" y="18470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0" y="1097280"/>
            <a:ext cx="201168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0" y="1097280"/>
            <a:ext cx="201168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8"/>
          <p:cNvSpPr/>
          <p:nvPr/>
        </p:nvSpPr>
        <p:spPr>
          <a:xfrm>
            <a:off x="2560320" y="12618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749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2560320" y="18470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Images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2514600"/>
            <a:ext cx="201168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2514600"/>
            <a:ext cx="201168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26791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274320" y="32644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Road Classes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0" y="2514600"/>
            <a:ext cx="201168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0" y="2514600"/>
            <a:ext cx="201168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2560320" y="26791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2560320" y="32644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Epochs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Detection Accuracy (AP50)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4880" y="14813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080760" y="1517904"/>
            <a:ext cx="3200400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Shape 21"/>
          <p:cNvSpPr/>
          <p:nvPr/>
        </p:nvSpPr>
        <p:spPr>
          <a:xfrm>
            <a:off x="6080760" y="1517904"/>
            <a:ext cx="3184398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2"/>
          <p:cNvSpPr/>
          <p:nvPr/>
        </p:nvSpPr>
        <p:spPr>
          <a:xfrm>
            <a:off x="9310878" y="14813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754880" y="195681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autorickshaw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080760" y="1993392"/>
            <a:ext cx="3200400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Shape 25"/>
          <p:cNvSpPr/>
          <p:nvPr/>
        </p:nvSpPr>
        <p:spPr>
          <a:xfrm>
            <a:off x="6080760" y="1993392"/>
            <a:ext cx="3149194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6"/>
          <p:cNvSpPr/>
          <p:nvPr/>
        </p:nvSpPr>
        <p:spPr>
          <a:xfrm>
            <a:off x="9275674" y="195681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54880" y="24323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080760" y="2468880"/>
            <a:ext cx="3200400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" name="Shape 29"/>
          <p:cNvSpPr/>
          <p:nvPr/>
        </p:nvSpPr>
        <p:spPr>
          <a:xfrm>
            <a:off x="6080760" y="2468880"/>
            <a:ext cx="3094787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Text 30"/>
          <p:cNvSpPr/>
          <p:nvPr/>
        </p:nvSpPr>
        <p:spPr>
          <a:xfrm>
            <a:off x="9221267" y="243230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754880" y="29077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080760" y="2944368"/>
            <a:ext cx="3200400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Shape 33"/>
          <p:cNvSpPr/>
          <p:nvPr/>
        </p:nvSpPr>
        <p:spPr>
          <a:xfrm>
            <a:off x="6080760" y="2944368"/>
            <a:ext cx="304038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7" name="Text 34"/>
          <p:cNvSpPr/>
          <p:nvPr/>
        </p:nvSpPr>
        <p:spPr>
          <a:xfrm>
            <a:off x="9166860" y="29077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754880" y="3383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bicycle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080760" y="3419856"/>
            <a:ext cx="3200400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Shape 37"/>
          <p:cNvSpPr/>
          <p:nvPr/>
        </p:nvSpPr>
        <p:spPr>
          <a:xfrm>
            <a:off x="6080760" y="3419856"/>
            <a:ext cx="2841955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1" name="Text 38"/>
          <p:cNvSpPr/>
          <p:nvPr/>
        </p:nvSpPr>
        <p:spPr>
          <a:xfrm>
            <a:off x="8968435" y="33832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88.8%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754880" y="38587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motorbike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080760" y="3895344"/>
            <a:ext cx="3200400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" name="Shape 41"/>
          <p:cNvSpPr/>
          <p:nvPr/>
        </p:nvSpPr>
        <p:spPr>
          <a:xfrm>
            <a:off x="6080760" y="3895344"/>
            <a:ext cx="256032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5" name="Text 42"/>
          <p:cNvSpPr/>
          <p:nvPr/>
        </p:nvSpPr>
        <p:spPr>
          <a:xfrm>
            <a:off x="8686800" y="38587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754880" y="433425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080760" y="4370832"/>
            <a:ext cx="3200400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8" name="Shape 45"/>
          <p:cNvSpPr/>
          <p:nvPr/>
        </p:nvSpPr>
        <p:spPr>
          <a:xfrm>
            <a:off x="6080760" y="4370832"/>
            <a:ext cx="166421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9" name="Text 46"/>
          <p:cNvSpPr/>
          <p:nvPr/>
        </p:nvSpPr>
        <p:spPr>
          <a:xfrm>
            <a:off x="6292901" y="433425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4754880" y="4663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mAP50: 0.777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Monocular Depth Estimation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8595360" cy="56692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" name="Shape 3"/>
          <p:cNvSpPr/>
          <p:nvPr/>
        </p:nvSpPr>
        <p:spPr>
          <a:xfrm>
            <a:off x="274320" y="1005840"/>
            <a:ext cx="73152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058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DepthAnything v2 infers 3D scene structure from a single 2D camera frame — no LiDAR, no radar, no depth sensor needed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4320" y="1737360"/>
            <a:ext cx="384048" cy="38404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17556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frame captured from camera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2304288"/>
            <a:ext cx="384048" cy="38404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9808" y="23225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DepthAnything v2 Small generates per-pixel depth map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2871216"/>
            <a:ext cx="384048" cy="38404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9808" y="28895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YOLO bounding box, median depth of center region is extracted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" y="3438144"/>
            <a:ext cx="384048" cy="38404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49808" y="3456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value converted to approximate distance in metres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74320" y="4005072"/>
            <a:ext cx="384048" cy="38404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49808" y="4023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feeds into TTC calculator and risk scorer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212080" y="1737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Accuracy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212080" y="2176272"/>
            <a:ext cx="182880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2"/>
          <p:cNvSpPr/>
          <p:nvPr/>
        </p:nvSpPr>
        <p:spPr>
          <a:xfrm>
            <a:off x="7040880" y="2176272"/>
            <a:ext cx="164592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3"/>
          <p:cNvSpPr/>
          <p:nvPr/>
        </p:nvSpPr>
        <p:spPr>
          <a:xfrm>
            <a:off x="5212080" y="21762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10 m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040880" y="217627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85–88%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212080" y="2670048"/>
            <a:ext cx="18288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7040880" y="2670048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5212080" y="26700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20 m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040880" y="267004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79–85%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212080" y="3163824"/>
            <a:ext cx="182880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Shape 30"/>
          <p:cNvSpPr/>
          <p:nvPr/>
        </p:nvSpPr>
        <p:spPr>
          <a:xfrm>
            <a:off x="7040880" y="3163824"/>
            <a:ext cx="164592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1"/>
          <p:cNvSpPr/>
          <p:nvPr/>
        </p:nvSpPr>
        <p:spPr>
          <a:xfrm>
            <a:off x="5212080" y="31638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– 30 m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040880" y="316382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70–79%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212080" y="3657600"/>
            <a:ext cx="18288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4"/>
          <p:cNvSpPr/>
          <p:nvPr/>
        </p:nvSpPr>
        <p:spPr>
          <a:xfrm>
            <a:off x="7040880" y="3657600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5212080" y="36576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40 m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040880" y="36576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212080" y="4151376"/>
            <a:ext cx="182880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Shape 38"/>
          <p:cNvSpPr/>
          <p:nvPr/>
        </p:nvSpPr>
        <p:spPr>
          <a:xfrm>
            <a:off x="7040880" y="4151376"/>
            <a:ext cx="164592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39"/>
          <p:cNvSpPr/>
          <p:nvPr/>
        </p:nvSpPr>
        <p:spPr>
          <a:xfrm>
            <a:off x="5212080" y="4151376"/>
            <a:ext cx="182880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40 m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7040880" y="41513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60%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5212080" y="4663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accurate in 0–20m critical safety zone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Alert Agent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27432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RL?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74320" y="14173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alerts cause alert fatigue — drivers ignore them.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PPO agent learns WHEN and HOW urgently to alert,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missed alerts (dangerous) vs false alarms (annoying).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74320" y="2331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Space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2679192"/>
            <a:ext cx="4114800" cy="31089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329184" y="26791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  Distance (metres)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3026664"/>
            <a:ext cx="4114800" cy="31089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1" name="Text 8"/>
          <p:cNvSpPr/>
          <p:nvPr/>
        </p:nvSpPr>
        <p:spPr>
          <a:xfrm>
            <a:off x="329184" y="302666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TTC (seconds)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3374136"/>
            <a:ext cx="4114800" cy="31089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329184" y="33741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Object class (0–9)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3721608"/>
            <a:ext cx="4114800" cy="31089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" y="37216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Weather code (0–3)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4069080"/>
            <a:ext cx="4114800" cy="31089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4"/>
          <p:cNvSpPr/>
          <p:nvPr/>
        </p:nvSpPr>
        <p:spPr>
          <a:xfrm>
            <a:off x="329184" y="40690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Time of day (0–1)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4632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Alert Actions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46320" y="1481328"/>
            <a:ext cx="3931920" cy="658368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46320" y="1481328"/>
            <a:ext cx="438912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148132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376672" y="1536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76672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&gt; 10s, dist &gt; 35m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680960" y="1645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reward: +5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46320" y="2258568"/>
            <a:ext cx="3931920" cy="658368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46320" y="2258568"/>
            <a:ext cx="438912" cy="658368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7" name="Text 24"/>
          <p:cNvSpPr/>
          <p:nvPr/>
        </p:nvSpPr>
        <p:spPr>
          <a:xfrm>
            <a:off x="4846320" y="225856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5376672" y="2313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376672" y="2587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6–10s, dist 20–35m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680960" y="24231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reward: +8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846320" y="3035808"/>
            <a:ext cx="3931920" cy="658368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846320" y="3035808"/>
            <a:ext cx="438912" cy="6583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3" name="Text 30"/>
          <p:cNvSpPr/>
          <p:nvPr/>
        </p:nvSpPr>
        <p:spPr>
          <a:xfrm>
            <a:off x="4846320" y="303580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5376672" y="3090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WARNING!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376672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2.5–6s, dist 10–20m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680960" y="32004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reward: +15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846320" y="3813048"/>
            <a:ext cx="3931920" cy="658368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846320" y="3813048"/>
            <a:ext cx="438912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381304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5376672" y="38679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NOW!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5376672" y="4142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&lt; 2.5s, dist &lt; 8m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680960" y="39776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reward: +20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Trained: 200,000 timesteps  |  Algorithm: PPO  |  Framework: Stable-Baselines3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1965960" cy="14173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05840"/>
            <a:ext cx="19659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114300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0.777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274320" y="17830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mAP50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2084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50592" y="1005840"/>
            <a:ext cx="1965960" cy="14173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50592" y="1005840"/>
            <a:ext cx="196596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9"/>
          <p:cNvSpPr/>
          <p:nvPr/>
        </p:nvSpPr>
        <p:spPr>
          <a:xfrm>
            <a:off x="2450592" y="114300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2450592" y="17830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Autorickshaw AP50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450592" y="2084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Indian class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14173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26864" y="1005840"/>
            <a:ext cx="196596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4626864" y="114300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4626864" y="17830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Training Steps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26864" y="2084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agent trained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803136" y="1005840"/>
            <a:ext cx="1965960" cy="14173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03136" y="1005840"/>
            <a:ext cx="196596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19"/>
          <p:cNvSpPr/>
          <p:nvPr/>
        </p:nvSpPr>
        <p:spPr>
          <a:xfrm>
            <a:off x="6803136" y="114300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4.2ms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6803136" y="17830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03136" y="2084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frame on GPU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74320" y="2606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 Decision Accuracy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274320" y="2999232"/>
            <a:ext cx="292608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7" name="Text 24"/>
          <p:cNvSpPr/>
          <p:nvPr/>
        </p:nvSpPr>
        <p:spPr>
          <a:xfrm>
            <a:off x="274320" y="29992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246120" y="2999232"/>
            <a:ext cx="114300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9" name="Text 26"/>
          <p:cNvSpPr/>
          <p:nvPr/>
        </p:nvSpPr>
        <p:spPr>
          <a:xfrm>
            <a:off x="3246120" y="29992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Decision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434840" y="2999232"/>
            <a:ext cx="86868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1" name="Text 28"/>
          <p:cNvSpPr/>
          <p:nvPr/>
        </p:nvSpPr>
        <p:spPr>
          <a:xfrm>
            <a:off x="4434840" y="29992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74320" y="3346704"/>
            <a:ext cx="292608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30"/>
          <p:cNvSpPr/>
          <p:nvPr/>
        </p:nvSpPr>
        <p:spPr>
          <a:xfrm>
            <a:off x="274320" y="33467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very close (4m, TTC 1s)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246120" y="3346704"/>
            <a:ext cx="114300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2"/>
          <p:cNvSpPr/>
          <p:nvPr/>
        </p:nvSpPr>
        <p:spPr>
          <a:xfrm>
            <a:off x="3246120" y="33467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NOW!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434840" y="3346704"/>
            <a:ext cx="86868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4"/>
          <p:cNvSpPr/>
          <p:nvPr/>
        </p:nvSpPr>
        <p:spPr>
          <a:xfrm>
            <a:off x="4434840" y="33467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274320" y="3694176"/>
            <a:ext cx="29260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6"/>
          <p:cNvSpPr/>
          <p:nvPr/>
        </p:nvSpPr>
        <p:spPr>
          <a:xfrm>
            <a:off x="274320" y="3694176"/>
            <a:ext cx="2926080" cy="31089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approaching (7m)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3246120" y="3694176"/>
            <a:ext cx="11430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8"/>
          <p:cNvSpPr/>
          <p:nvPr/>
        </p:nvSpPr>
        <p:spPr>
          <a:xfrm>
            <a:off x="3246120" y="369417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NOW!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434840" y="3694176"/>
            <a:ext cx="868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0"/>
          <p:cNvSpPr/>
          <p:nvPr/>
        </p:nvSpPr>
        <p:spPr>
          <a:xfrm>
            <a:off x="4434840" y="369417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274320" y="4041648"/>
            <a:ext cx="292608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2"/>
          <p:cNvSpPr/>
          <p:nvPr/>
        </p:nvSpPr>
        <p:spPr>
          <a:xfrm>
            <a:off x="274320" y="4041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at night (8m, TTC 3s)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3246120" y="4041648"/>
            <a:ext cx="114300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Text 44"/>
          <p:cNvSpPr/>
          <p:nvPr/>
        </p:nvSpPr>
        <p:spPr>
          <a:xfrm>
            <a:off x="3246120" y="40416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NOW!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4434840" y="4041648"/>
            <a:ext cx="86868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6"/>
          <p:cNvSpPr/>
          <p:nvPr/>
        </p:nvSpPr>
        <p:spPr>
          <a:xfrm>
            <a:off x="4434840" y="40416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274320" y="4389120"/>
            <a:ext cx="29260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/>
          <p:nvPr/>
        </p:nvSpPr>
        <p:spPr>
          <a:xfrm>
            <a:off x="274320" y="43891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far away (35m, TTC 15s)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3246120" y="4389120"/>
            <a:ext cx="11430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0"/>
          <p:cNvSpPr/>
          <p:nvPr/>
        </p:nvSpPr>
        <p:spPr>
          <a:xfrm>
            <a:off x="3246120" y="43891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4434840" y="4389120"/>
            <a:ext cx="868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2"/>
          <p:cNvSpPr/>
          <p:nvPr/>
        </p:nvSpPr>
        <p:spPr>
          <a:xfrm>
            <a:off x="4434840" y="43891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274320" y="4736592"/>
            <a:ext cx="292608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7" name="Text 54"/>
          <p:cNvSpPr/>
          <p:nvPr/>
        </p:nvSpPr>
        <p:spPr>
          <a:xfrm>
            <a:off x="274320" y="47365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safe (50m)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3246120" y="4736592"/>
            <a:ext cx="114300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9" name="Text 56"/>
          <p:cNvSpPr/>
          <p:nvPr/>
        </p:nvSpPr>
        <p:spPr>
          <a:xfrm>
            <a:off x="3246120" y="47365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4434840" y="4736592"/>
            <a:ext cx="868680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1" name="Text 58"/>
          <p:cNvSpPr/>
          <p:nvPr/>
        </p:nvSpPr>
        <p:spPr>
          <a:xfrm>
            <a:off x="4434840" y="47365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5303520" y="26060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5303520" y="3657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89C4-8503-2B83-6316-01FD7FA2E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0" y="62013"/>
            <a:ext cx="9066179" cy="503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13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B008E4-5B15-E33B-07E8-AB0E2A56E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990" y="129702"/>
            <a:ext cx="4712723" cy="47779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4B4FDD-FED7-A3F8-CC13-4C8DDA568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6" y="129702"/>
            <a:ext cx="4226340" cy="477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63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606FE8-5F84-26F0-C179-23A9007AB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334" y="149463"/>
            <a:ext cx="4187733" cy="2319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D95E5A-B1EF-36D9-F705-9AA944391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334" y="2504016"/>
            <a:ext cx="4187733" cy="25717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5DED6A-88CA-85EC-39A4-ACA74B2CD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1038"/>
            <a:ext cx="4669277" cy="487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479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VisionGuard UI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Demo Shows: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1508760"/>
            <a:ext cx="41148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150876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Upload dashcam video or connect phone camera via IP Webcam app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1984248"/>
            <a:ext cx="4114800" cy="4114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9" name="Text 6"/>
          <p:cNvSpPr/>
          <p:nvPr/>
        </p:nvSpPr>
        <p:spPr>
          <a:xfrm>
            <a:off x="347472" y="1984248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YOLO detects objects — cars, bikes, autorickshaws — in real time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2459736"/>
            <a:ext cx="41148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347472" y="2459736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Distance shown in metres on every bounding box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" y="2935224"/>
            <a:ext cx="4114800" cy="4114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" y="293522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TTC (Time-to-Collision) updates live as objects approach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74320" y="3410712"/>
            <a:ext cx="41148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2"/>
          <p:cNvSpPr/>
          <p:nvPr/>
        </p:nvSpPr>
        <p:spPr>
          <a:xfrm>
            <a:off x="347472" y="3410712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Risk score bar (0–100) updates every frame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4320" y="3886200"/>
            <a:ext cx="4114800" cy="4114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7" name="Text 14"/>
          <p:cNvSpPr/>
          <p:nvPr/>
        </p:nvSpPr>
        <p:spPr>
          <a:xfrm>
            <a:off x="347472" y="3886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RL agent triggers CAUTION / WARNING / BRAKE NOW alerts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74320" y="4361688"/>
            <a:ext cx="41148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6"/>
          <p:cNvSpPr/>
          <p:nvPr/>
        </p:nvSpPr>
        <p:spPr>
          <a:xfrm>
            <a:off x="347472" y="4361688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Night / Rain / Fog automatically detected and displayed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4632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Camera Setup (IP Webcam):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846320" y="1581912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19"/>
          <p:cNvSpPr/>
          <p:nvPr/>
        </p:nvSpPr>
        <p:spPr>
          <a:xfrm>
            <a:off x="4846320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03520" y="15270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IP Webcam app on Android phone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846320" y="21488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48463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303520" y="209397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 → tap Start Server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846320" y="2715768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484632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303520" y="26609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IP address shown on screen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http://192.168.1.5:8080)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846320" y="3282696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303520" y="32278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Phone Camera in VisionGuard UI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846320" y="3849624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484632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303520" y="3794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IP → click Connect &amp; Start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846320" y="4416552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4846320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303520" y="43616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phone at traffic — live detection!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1463040"/>
            <a:ext cx="411480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347472" y="146304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Fine-tuned YOLOv8 on 3,438 Indian road images — mAP50: 0.777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4320" y="1920240"/>
            <a:ext cx="4114800" cy="40233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0" name="Text 7"/>
          <p:cNvSpPr/>
          <p:nvPr/>
        </p:nvSpPr>
        <p:spPr>
          <a:xfrm>
            <a:off x="347472" y="192024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Monocular depth estimation replacing LiDAR — distance in metres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320" y="2377440"/>
            <a:ext cx="411480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" y="237744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Time-to-Collision calculator using velocity regression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4320" y="2834640"/>
            <a:ext cx="4114800" cy="40233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" y="283464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Adverse conditions detector (night, rain, fog, glare)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3291840"/>
            <a:ext cx="411480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347472" y="329184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PPO RL agent — 200,000 step trained alert policy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3749040"/>
            <a:ext cx="4114800" cy="40233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8" name="Text 15"/>
          <p:cNvSpPr/>
          <p:nvPr/>
        </p:nvSpPr>
        <p:spPr>
          <a:xfrm>
            <a:off x="347472" y="374904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Streamlit web UI with phone camera live mode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4632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46320" y="1463040"/>
            <a:ext cx="393192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8"/>
          <p:cNvSpPr/>
          <p:nvPr/>
        </p:nvSpPr>
        <p:spPr>
          <a:xfrm>
            <a:off x="4919472" y="14630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 on Raspberry Pi 5 for real vehicle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846320" y="1920240"/>
            <a:ext cx="3931920" cy="40233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3" name="Text 20"/>
          <p:cNvSpPr/>
          <p:nvPr/>
        </p:nvSpPr>
        <p:spPr>
          <a:xfrm>
            <a:off x="4919472" y="19202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lane detection module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846320" y="2377440"/>
            <a:ext cx="393192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2"/>
          <p:cNvSpPr/>
          <p:nvPr/>
        </p:nvSpPr>
        <p:spPr>
          <a:xfrm>
            <a:off x="4919472" y="23774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Improve person &amp; tractor detection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846320" y="2834640"/>
            <a:ext cx="3931920" cy="40233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7" name="Text 24"/>
          <p:cNvSpPr/>
          <p:nvPr/>
        </p:nvSpPr>
        <p:spPr>
          <a:xfrm>
            <a:off x="4919472" y="28346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Test in CARLA driving simulator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846320" y="3291840"/>
            <a:ext cx="393192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4919472" y="32918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DeepSORT tracking for stable TTC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846320" y="3749040"/>
            <a:ext cx="3931920" cy="402336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1" name="Text 28"/>
          <p:cNvSpPr/>
          <p:nvPr/>
        </p:nvSpPr>
        <p:spPr>
          <a:xfrm>
            <a:off x="4919472" y="37490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Speed estimation per vehicle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0"/>
          <p:cNvSpPr/>
          <p:nvPr/>
        </p:nvSpPr>
        <p:spPr>
          <a:xfrm>
            <a:off x="274320" y="43434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VisionGuard — Making ADAS Accessible to Every Indian Vehicle Owner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Only  |  No LiDAR  |  No Radar  |  ~Min Cost  |  Built for Indian Roads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977</Words>
  <Application>Microsoft Office PowerPoint</Application>
  <PresentationFormat>On-screen Show (16:9)</PresentationFormat>
  <Paragraphs>234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VisionGuard - Real-Time ADAS</dc:title>
  <dc:subject>PptxGenJS Presentation</dc:subject>
  <dc:creator>PptxGenJS</dc:creator>
  <cp:lastModifiedBy>Tanya Kontisetty</cp:lastModifiedBy>
  <cp:revision>4</cp:revision>
  <dcterms:created xsi:type="dcterms:W3CDTF">2026-04-23T00:40:02Z</dcterms:created>
  <dcterms:modified xsi:type="dcterms:W3CDTF">2026-05-13T13:52:41Z</dcterms:modified>
</cp:coreProperties>
</file>